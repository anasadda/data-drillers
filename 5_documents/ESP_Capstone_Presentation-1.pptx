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4"/>
  </p:sldMasterIdLst>
  <p:notesMasterIdLst>
    <p:notesMasterId r:id="rId15"/>
  </p:notesMasterIdLst>
  <p:sldIdLst>
    <p:sldId id="790" r:id="rId5"/>
    <p:sldId id="791" r:id="rId6"/>
    <p:sldId id="792" r:id="rId7"/>
    <p:sldId id="793" r:id="rId8"/>
    <p:sldId id="794" r:id="rId9"/>
    <p:sldId id="795" r:id="rId10"/>
    <p:sldId id="796" r:id="rId11"/>
    <p:sldId id="797" r:id="rId12"/>
    <p:sldId id="798" r:id="rId13"/>
    <p:sldId id="788" r:id="rId14"/>
  </p:sldIdLst>
  <p:sldSz cx="9902825" cy="6858000"/>
  <p:notesSz cx="6858000" cy="9144000"/>
  <p:embeddedFontLst>
    <p:embeddedFont>
      <p:font typeface="맑은 고딕" panose="020B0503020000020004" pitchFamily="34" charset="-127"/>
      <p:regular r:id="rId16"/>
      <p:bold r:id="rId17"/>
    </p:embeddedFont>
    <p:embeddedFont>
      <p:font typeface="Samsung Sharp Sans" panose="02000503000000020004" pitchFamily="50" charset="0"/>
      <p:regular r:id="rId18"/>
      <p:bold r:id="rId19"/>
    </p:embeddedFont>
    <p:embeddedFont>
      <p:font typeface="SamsungOne 400" panose="020B0503030303020204" charset="0"/>
      <p:regular r:id="rId20"/>
    </p:embeddedFont>
    <p:embeddedFont>
      <p:font typeface="SamsungOne 400C" panose="020B0506030303020204" charset="0"/>
      <p:regular r:id="rId21"/>
    </p:embeddedFont>
    <p:embeddedFont>
      <p:font typeface="SamsungOne 700" panose="020B0803030303020204" charset="0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72205" autoAdjust="0"/>
  </p:normalViewPr>
  <p:slideViewPr>
    <p:cSldViewPr snapToGrid="0">
      <p:cViewPr varScale="1">
        <p:scale>
          <a:sx n="80" d="100"/>
          <a:sy n="80" d="100"/>
        </p:scale>
        <p:origin x="1308" y="90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선우" userId="0fe69268-fa1a-4efe-9dc5-d4012ab1114b" providerId="ADAL" clId="{C52B7E7F-94C4-473C-B7E9-B27EED8C6190}"/>
    <pc:docChg chg="modMainMaster">
      <pc:chgData name="이 선우" userId="0fe69268-fa1a-4efe-9dc5-d4012ab1114b" providerId="ADAL" clId="{C52B7E7F-94C4-473C-B7E9-B27EED8C6190}" dt="2025-12-26T06:30:10.164" v="2" actId="20577"/>
      <pc:docMkLst>
        <pc:docMk/>
      </pc:docMkLst>
      <pc:sldMasterChg chg="modSldLayout">
        <pc:chgData name="이 선우" userId="0fe69268-fa1a-4efe-9dc5-d4012ab1114b" providerId="ADAL" clId="{C52B7E7F-94C4-473C-B7E9-B27EED8C6190}" dt="2025-12-26T06:30:10.164" v="2" actId="20577"/>
        <pc:sldMasterMkLst>
          <pc:docMk/>
          <pc:sldMasterMk cId="3477928821" sldId="2147483683"/>
        </pc:sldMasterMkLst>
        <pc:sldLayoutChg chg="modSp mod">
          <pc:chgData name="이 선우" userId="0fe69268-fa1a-4efe-9dc5-d4012ab1114b" providerId="ADAL" clId="{C52B7E7F-94C4-473C-B7E9-B27EED8C6190}" dt="2025-12-26T06:30:10.164" v="2" actId="20577"/>
          <pc:sldLayoutMkLst>
            <pc:docMk/>
            <pc:sldMasterMk cId="3477928821" sldId="2147483683"/>
            <pc:sldLayoutMk cId="1227834196" sldId="2147483689"/>
          </pc:sldLayoutMkLst>
          <pc:spChg chg="mod">
            <ac:chgData name="이 선우" userId="0fe69268-fa1a-4efe-9dc5-d4012ab1114b" providerId="ADAL" clId="{C52B7E7F-94C4-473C-B7E9-B27EED8C6190}" dt="2025-12-26T06:30:10.164" v="2" actId="20577"/>
            <ac:spMkLst>
              <pc:docMk/>
              <pc:sldMasterMk cId="3477928821" sldId="2147483683"/>
              <pc:sldLayoutMk cId="1227834196" sldId="2147483689"/>
              <ac:spMk id="7" creationId="{782B242C-8600-47F0-98D5-6EA512C41BF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2026-09-29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ESP Failure Prediction &amp; Optimal Frequency — Group-3, Data Drillers. Total 5 minutes: ~4 minutes speaking, 1 minute video on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— read quickly, do not dwell. (~10 sec)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(~30 sec) An ESP is the pump that lifts oil to surface. When it trips the well earns nothing. Existing protection only reacts — it shuts the pump down after the fault. But these four failure modes build up over hours, and in our three test wells the pumps stopped 69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(~30 sec) So we answer three questions in order: will it trip, why, and what to change. The key rule is the success criterion at the bottom — a warning under 30 minutes is useless operationally, so we do not count it as a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(~35 sec) No public dataset exists at one-minute resolution, so we simulated 16 wells with real catalogue equipment. Two points matter: each well has its own safe Hz band, and three wells were locked away completely. Every number after this slide comes only from those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(~35 sec) Sensors, features, then the three stages. The unsupervised branch runs alongside but is never fed in. The important line is at the bottom: we select the model on validation cost, never on the test wells — we made that mistake twice during development and corrected it both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(~40 sec) The headline. 48% of shutdowns caught with a median three hours of warning, at under one nuisance alarm per well per day. Note 'was 19%' — the jump came from finding two physics errors in our own simulator, not from tuning the model. XGBoost wins on catches AND on alarms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(~40 sec) What an engineer actually sees: risk per well, the named cause, and a recommended frequency inside that well's rated band. The fourth point is the one we are proudest of — we also say when NOT to slow a well down, because slowing it costs production every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(1 minute — play the video) Adding a well is one line in a config file. Everything else is automatic. The video shows a new data file going in and the trained models being tested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you. Ready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ESP Failure Prediction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Artificial Intelligence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AI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ESP Failure Prediction</a:t>
            </a: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ESP Failure Prediction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ESP Failure Prediction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ESP Failure Prediction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2025 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1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jp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BA57D5-7920-4C59-8990-1FDF22441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Group-3  ·  Data Drillers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1645920"/>
            <a:ext cx="8138160" cy="1600200"/>
          </a:xfrm>
        </p:spPr>
        <p:txBody>
          <a:bodyPr/>
          <a:lstStyle/>
          <a:p>
            <a:r>
              <a:rPr lang="en-US" altLang="ko-KR" sz="3300" dirty="0"/>
              <a:t>ESP Failure Prediction</a:t>
            </a:r>
            <a:br>
              <a:rPr lang="en-US" altLang="ko-KR" dirty="0"/>
            </a:br>
            <a:r>
              <a:rPr lang="en-US" altLang="ko-KR" sz="3300" dirty="0"/>
              <a:t>&amp; Optimal Frequency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1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1E42F3CA-E8F5-41D4-A677-F15543C46B01}"/>
              </a:ext>
            </a:extLst>
          </p:cNvPr>
          <p:cNvGrpSpPr/>
          <p:nvPr/>
        </p:nvGrpSpPr>
        <p:grpSpPr>
          <a:xfrm>
            <a:off x="710836" y="1892807"/>
            <a:ext cx="4379913" cy="1216982"/>
            <a:chOff x="4181256" y="3224809"/>
            <a:chExt cx="4379913" cy="121698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EA224A4-F527-4CB0-B62E-359CBCD4E78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1.  Problem &amp; Approach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5CBCEC-393B-4E62-A937-E41B3CD7A93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76F31AB-CE0B-4C60-A822-96C574A8736B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1.1.  Problem Statement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1.2.  Project Objective</a:t>
              </a:r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730BB671-9743-4819-9105-2FF86D4E0E36}"/>
              </a:ext>
            </a:extLst>
          </p:cNvPr>
          <p:cNvGrpSpPr/>
          <p:nvPr/>
        </p:nvGrpSpPr>
        <p:grpSpPr>
          <a:xfrm>
            <a:off x="710836" y="3264408"/>
            <a:ext cx="4379913" cy="1216982"/>
            <a:chOff x="4181256" y="3224809"/>
            <a:chExt cx="4379913" cy="1216982"/>
          </a:xfrm>
        </p:grpSpPr>
        <p:sp>
          <p:nvSpPr>
            <p:cNvPr id="9" name="직사각형 37">
              <a:extLst>
                <a:ext uri="{FF2B5EF4-FFF2-40B4-BE49-F238E27FC236}">
                  <a16:creationId xmlns:a16="http://schemas.microsoft.com/office/drawing/2014/main" id="{44B7DD30-17C5-4D7E-8AC2-EA4E01FBA36D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2.  Data &amp; AI Development</a:t>
              </a: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:a16="http://schemas.microsoft.com/office/drawing/2014/main" id="{0544C2E7-AEB2-4C9F-BC7B-16A176B1A6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1" name="직사각형 39">
              <a:extLst>
                <a:ext uri="{FF2B5EF4-FFF2-40B4-BE49-F238E27FC236}">
                  <a16:creationId xmlns:a16="http://schemas.microsoft.com/office/drawing/2014/main" id="{8FF9FD52-A1FA-45F7-80A2-FC3AF69D82B2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2.1.  Data Preparation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2.2.  Modeling Workflow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2.3.  Model Evaluation</a:t>
              </a:r>
            </a:p>
          </p:txBody>
        </p:sp>
      </p:grpSp>
      <p:grpSp>
        <p:nvGrpSpPr>
          <p:cNvPr id="12" name="Group 1">
            <a:extLst>
              <a:ext uri="{FF2B5EF4-FFF2-40B4-BE49-F238E27FC236}">
                <a16:creationId xmlns:a16="http://schemas.microsoft.com/office/drawing/2014/main" id="{99E1C113-2E13-42D7-B0BA-4B851632AACF}"/>
              </a:ext>
            </a:extLst>
          </p:cNvPr>
          <p:cNvGrpSpPr/>
          <p:nvPr/>
        </p:nvGrpSpPr>
        <p:grpSpPr>
          <a:xfrm>
            <a:off x="710836" y="4846320"/>
            <a:ext cx="4379913" cy="1216982"/>
            <a:chOff x="4181256" y="3224809"/>
            <a:chExt cx="4379913" cy="1216982"/>
          </a:xfrm>
        </p:grpSpPr>
        <p:sp>
          <p:nvSpPr>
            <p:cNvPr id="13" name="직사각형 37">
              <a:extLst>
                <a:ext uri="{FF2B5EF4-FFF2-40B4-BE49-F238E27FC236}">
                  <a16:creationId xmlns:a16="http://schemas.microsoft.com/office/drawing/2014/main" id="{B347DB6E-48AB-4ECB-AF93-4C89FBDF147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3.  Solution &amp; Impact</a:t>
              </a:r>
            </a:p>
          </p:txBody>
        </p:sp>
        <p:sp>
          <p:nvSpPr>
            <p:cNvPr id="14" name="직사각형 38">
              <a:extLst>
                <a:ext uri="{FF2B5EF4-FFF2-40B4-BE49-F238E27FC236}">
                  <a16:creationId xmlns:a16="http://schemas.microsoft.com/office/drawing/2014/main" id="{0B90DCE9-673D-4E88-91C4-A7B10F5EEAE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5" name="직사각형 39">
              <a:extLst>
                <a:ext uri="{FF2B5EF4-FFF2-40B4-BE49-F238E27FC236}">
                  <a16:creationId xmlns:a16="http://schemas.microsoft.com/office/drawing/2014/main" id="{2825410F-2C46-47C0-A8BD-61DC6D753D88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3.1.  ESP Failure Watch Platform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3.2.  Live Demo</a:t>
              </a:r>
            </a:p>
          </p:txBody>
        </p:sp>
      </p:grpSp>
      <p:sp>
        <p:nvSpPr>
          <p:cNvPr id="16" name="직사각형 133">
            <a:extLst>
              <a:ext uri="{FF2B5EF4-FFF2-40B4-BE49-F238E27FC236}">
                <a16:creationId xmlns:a16="http://schemas.microsoft.com/office/drawing/2014/main" id="{71B9AA9E-B863-4155-9637-87088D8ED43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ESP Failure Prediction &amp; Optimal Frequency</a:t>
            </a:r>
          </a:p>
        </p:txBody>
      </p:sp>
    </p:spTree>
    <p:extLst>
      <p:ext uri="{BB962C8B-B14F-4D97-AF65-F5344CB8AC3E}">
        <p14:creationId xmlns:p14="http://schemas.microsoft.com/office/powerpoint/2010/main" val="21064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9888"/>
            <a:ext cx="8494776" cy="603504"/>
          </a:xfrm>
        </p:spPr>
        <p:txBody>
          <a:bodyPr/>
          <a:lstStyle/>
          <a:p>
            <a:r>
              <a:rPr lang="en-US" altLang="ko-KR" sz="2600" dirty="0"/>
              <a:t>Most ESP failures build up over hours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448056"/>
            <a:ext cx="713232" cy="274320"/>
          </a:xfrm>
        </p:spPr>
        <p:txBody>
          <a:bodyPr/>
          <a:lstStyle/>
          <a:p>
            <a:r>
              <a:rPr lang="en-US" altLang="ko-KR" dirty="0"/>
              <a:t>1.1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7008" y="448056"/>
            <a:ext cx="6766560" cy="274320"/>
          </a:xfrm>
        </p:spPr>
        <p:txBody>
          <a:bodyPr/>
          <a:lstStyle/>
          <a:p>
            <a:r>
              <a:rPr lang="en-US" altLang="ko-KR" dirty="0"/>
              <a:t>Problem Statement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6568" y="484632"/>
            <a:ext cx="338328" cy="246888"/>
          </a:xfrm>
        </p:spPr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484632"/>
            <a:ext cx="658368" cy="246888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207" y="2212848"/>
            <a:ext cx="8686800" cy="566928"/>
          </a:xfrm>
        </p:spPr>
        <p:txBody>
          <a:bodyPr/>
          <a:lstStyle/>
          <a:p>
            <a:r>
              <a:rPr lang="en-US" altLang="ko-KR" dirty="0"/>
              <a:t>Existing protection reacts after the fact — it shuts the pump down, it does not warn anyone beforehand. But the fault itself develops slowly.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63824"/>
            <a:ext cx="1917953" cy="120700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319272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GAS 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93592"/>
            <a:ext cx="162534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66E7A"/>
                </a:solidFill>
                <a:latin typeface="Arial"/>
              </a:rPr>
              <a:t>Gas collects at the pump intake and the pump stops moving fluid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3481" y="3163824"/>
            <a:ext cx="1917953" cy="120700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9785" y="3319272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UNDERLOAD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9785" y="3593592"/>
            <a:ext cx="162534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66E7A"/>
                </a:solidFill>
                <a:latin typeface="Arial"/>
              </a:rPr>
              <a:t>The reservoir stops keeping the pump fed and the motor unloads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5755" y="3163824"/>
            <a:ext cx="1917953" cy="120700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52059" y="3319272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HIGH TEMP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2059" y="3593592"/>
            <a:ext cx="162534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66E7A"/>
                </a:solidFill>
                <a:latin typeface="Arial"/>
              </a:rPr>
              <a:t>The motor runs hotter and hotter until its thermal limit trips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8029" y="3163824"/>
            <a:ext cx="1917953" cy="120700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44333" y="3319272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HIGH DISCHARGE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4333" y="3593592"/>
            <a:ext cx="162534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66E7A"/>
                </a:solidFill>
                <a:latin typeface="Arial"/>
              </a:rPr>
              <a:t>Scale narrows the discharge and pressure climbs against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4773168"/>
            <a:ext cx="849477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Those hours are the whole opportunity. </a:t>
            </a:r>
            <a:r>
              <a:rPr sz="1400" b="0">
                <a:solidFill>
                  <a:srgbClr val="1A1A1A"/>
                </a:solidFill>
                <a:latin typeface="Arial"/>
              </a:rPr>
              <a:t>In three wells over six months, the pumps stopped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C0621A"/>
                </a:solidFill>
                <a:latin typeface="Arial"/>
              </a:rPr>
              <a:t>69 times</a:t>
            </a:r>
            <a:r>
              <a:rPr sz="1400" b="0">
                <a:solidFill>
                  <a:srgbClr val="1A1A1A"/>
                </a:solidFill>
                <a:latin typeface="Arial"/>
              </a:rPr>
              <a:t> — and every one of them left traces in the data first.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9888"/>
            <a:ext cx="8494776" cy="603504"/>
          </a:xfrm>
        </p:spPr>
        <p:txBody>
          <a:bodyPr/>
          <a:lstStyle/>
          <a:p>
            <a:r>
              <a:rPr lang="en-US" altLang="ko-KR" sz="2600" dirty="0"/>
              <a:t>Warn early enough to act, and say what to do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448056"/>
            <a:ext cx="713232" cy="274320"/>
          </a:xfrm>
        </p:spPr>
        <p:txBody>
          <a:bodyPr/>
          <a:lstStyle/>
          <a:p>
            <a:r>
              <a:rPr lang="en-US" altLang="ko-KR" dirty="0"/>
              <a:t>1.2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7008" y="448056"/>
            <a:ext cx="6766560" cy="274320"/>
          </a:xfrm>
        </p:spPr>
        <p:txBody>
          <a:bodyPr/>
          <a:lstStyle/>
          <a:p>
            <a:r>
              <a:rPr lang="en-US" altLang="ko-KR" dirty="0"/>
              <a:t>Project Objective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6568" y="484632"/>
            <a:ext cx="338328" cy="246888"/>
          </a:xfrm>
        </p:spPr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484632"/>
            <a:ext cx="658368" cy="246888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207" y="2212848"/>
            <a:ext cx="8686800" cy="566928"/>
          </a:xfrm>
        </p:spPr>
        <p:txBody>
          <a:bodyPr/>
          <a:lstStyle/>
          <a:p>
            <a:r>
              <a:rPr lang="en-US" altLang="ko-KR" dirty="0"/>
              <a:t>Three questions, answered in order, using only the sensor data the well already produces every minute.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962656"/>
            <a:ext cx="2636519" cy="1444752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3127248"/>
            <a:ext cx="227075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C0621A"/>
                </a:solidFill>
                <a:latin typeface="Arial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383280"/>
            <a:ext cx="2270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Will this well trip within 30 minutes?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059936"/>
            <a:ext cx="22707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529A0"/>
                </a:solidFill>
                <a:latin typeface="Arial"/>
              </a:rPr>
              <a:t>→  an alarm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3203447" y="3575304"/>
            <a:ext cx="201168" cy="201168"/>
          </a:xfrm>
          <a:prstGeom prst="triangle">
            <a:avLst/>
          </a:prstGeom>
          <a:solidFill>
            <a:srgbClr val="D2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50335" y="2962656"/>
            <a:ext cx="2636519" cy="1444752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3215" y="3127248"/>
            <a:ext cx="227075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C0621A"/>
                </a:solidFill>
                <a:latin typeface="Arial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3215" y="3383280"/>
            <a:ext cx="2270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Which of the four failure modes is developing?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3215" y="4059936"/>
            <a:ext cx="22707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529A0"/>
                </a:solidFill>
                <a:latin typeface="Arial"/>
              </a:rPr>
              <a:t>→  a named cause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6132575" y="3575304"/>
            <a:ext cx="201168" cy="201168"/>
          </a:xfrm>
          <a:prstGeom prst="triangle">
            <a:avLst/>
          </a:prstGeom>
          <a:solidFill>
            <a:srgbClr val="D2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79463" y="2962656"/>
            <a:ext cx="2636519" cy="1444752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2343" y="3127248"/>
            <a:ext cx="227075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C0621A"/>
                </a:solidFill>
                <a:latin typeface="Arial"/>
              </a:rP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343" y="3383280"/>
            <a:ext cx="22707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A1A1A"/>
                </a:solidFill>
                <a:latin typeface="Arial"/>
              </a:rPr>
              <a:t>What should the operator change?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343" y="4059936"/>
            <a:ext cx="22707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529A0"/>
                </a:solidFill>
                <a:latin typeface="Arial"/>
              </a:rPr>
              <a:t>→  a frequency in Hz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7" y="4791456"/>
            <a:ext cx="849477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4946904"/>
            <a:ext cx="80741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>
                <a:solidFill>
                  <a:srgbClr val="1529A0"/>
                </a:solidFill>
                <a:latin typeface="Arial"/>
              </a:rPr>
              <a:t>Success criterion. </a:t>
            </a:r>
            <a:r>
              <a:rPr sz="1250" b="0">
                <a:solidFill>
                  <a:srgbClr val="1A1A1A"/>
                </a:solidFill>
                <a:latin typeface="Arial"/>
              </a:rPr>
              <a:t>A warning only counts if it arrives at least 30 minutes ahead — earlier than that is 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Arial"/>
              </a:rPr>
              <a:t>detecting a failure, not predicting it — and at an alarm load a control room will keep trusting.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9888"/>
            <a:ext cx="8494776" cy="603504"/>
          </a:xfrm>
        </p:spPr>
        <p:txBody>
          <a:bodyPr/>
          <a:lstStyle/>
          <a:p>
            <a:r>
              <a:rPr lang="en-US" altLang="ko-KR" sz="2600" dirty="0"/>
              <a:t>16 wells, 4.19M minutes, three locked away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448056"/>
            <a:ext cx="713232" cy="274320"/>
          </a:xfrm>
        </p:spPr>
        <p:txBody>
          <a:bodyPr/>
          <a:lstStyle/>
          <a:p>
            <a:r>
              <a:rPr lang="en-US" altLang="ko-KR" dirty="0"/>
              <a:t>2.1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7008" y="448056"/>
            <a:ext cx="6766560" cy="274320"/>
          </a:xfrm>
        </p:spPr>
        <p:txBody>
          <a:bodyPr/>
          <a:lstStyle/>
          <a:p>
            <a:r>
              <a:rPr lang="en-US" altLang="ko-KR" dirty="0"/>
              <a:t>Data Preparation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6568" y="484632"/>
            <a:ext cx="338328" cy="246888"/>
          </a:xfrm>
        </p:spPr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484632"/>
            <a:ext cx="658368" cy="246888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207" y="2212848"/>
            <a:ext cx="8686800" cy="566928"/>
          </a:xfrm>
        </p:spPr>
        <p:txBody>
          <a:bodyPr/>
          <a:lstStyle/>
          <a:p>
            <a:r>
              <a:rPr lang="en-US" altLang="ko-KR" dirty="0"/>
              <a:t>No public ESP dataset exists at this resolution, so we built one — giving every well its own equipment from real catalogue ranges.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035808"/>
            <a:ext cx="1917953" cy="1133856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163824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WELLS SIMULATED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19856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529A0"/>
                </a:solidFill>
                <a:latin typeface="Arial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886200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13 train  ·  3 held 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3481" y="3035808"/>
            <a:ext cx="1917953" cy="1133856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9785" y="3163824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ROWS OF SCADA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9785" y="3419856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529A0"/>
                </a:solidFill>
                <a:latin typeface="Arial"/>
              </a:rPr>
              <a:t>4.19M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9785" y="3886200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6 months at 1-minute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5755" y="3035808"/>
            <a:ext cx="1917953" cy="1133856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52059" y="3163824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SENSOR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2059" y="3419856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529A0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2059" y="3886200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pressure, current, temperature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8029" y="3035808"/>
            <a:ext cx="1917953" cy="1133856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44333" y="3163824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SHUTDOWNS TO 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4333" y="3419856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529A0"/>
                </a:solidFill>
                <a:latin typeface="Arial"/>
              </a:rPr>
              <a:t>69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4333" y="3886200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in the held-out wells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4480560"/>
            <a:ext cx="8494776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1529A0"/>
                </a:solidFill>
                <a:latin typeface="Arial"/>
              </a:rPr>
              <a:t>Each well has its own safe frequency band. </a:t>
            </a:r>
            <a:r>
              <a:rPr sz="1250" b="0">
                <a:solidFill>
                  <a:srgbClr val="1A1A1A"/>
                </a:solidFill>
                <a:latin typeface="Arial"/>
              </a:rPr>
              <a:t>It is the intersection of that well's motor, protector and pump ratings — so a recommendation is never outside what the hardware allows.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1529A0"/>
                </a:solidFill>
                <a:latin typeface="Arial"/>
              </a:rPr>
              <a:t>Every feature is normalised against the well's own baseline. </a:t>
            </a:r>
            <a:r>
              <a:rPr sz="1250" b="0">
                <a:solidFill>
                  <a:srgbClr val="1A1A1A"/>
                </a:solidFill>
                <a:latin typeface="Arial"/>
              </a:rPr>
              <a:t>Wells sit at different absolute pressures and currents; without this the model learns which well it is looking at instead of what is happening to it.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1529A0"/>
                </a:solidFill>
                <a:latin typeface="Arial"/>
              </a:rPr>
              <a:t>Wells 8, 9 and 10 were never used for training, tuning or model selection. </a:t>
            </a:r>
            <a:r>
              <a:rPr sz="1250" b="0">
                <a:solidFill>
                  <a:srgbClr val="1A1A1A"/>
                </a:solidFill>
                <a:latin typeface="Arial"/>
              </a:rPr>
              <a:t>Every number in this presentation is measured on those three wells alone.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9888"/>
            <a:ext cx="8494776" cy="603504"/>
          </a:xfrm>
        </p:spPr>
        <p:txBody>
          <a:bodyPr/>
          <a:lstStyle/>
          <a:p>
            <a:r>
              <a:rPr lang="en-US" altLang="ko-KR" sz="2600" dirty="0"/>
              <a:t>Two supervised stages, one parallel check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448056"/>
            <a:ext cx="713232" cy="274320"/>
          </a:xfrm>
        </p:spPr>
        <p:txBody>
          <a:bodyPr/>
          <a:lstStyle/>
          <a:p>
            <a:r>
              <a:rPr lang="en-US" altLang="ko-KR" dirty="0"/>
              <a:t>2.2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7008" y="448056"/>
            <a:ext cx="6766560" cy="274320"/>
          </a:xfrm>
        </p:spPr>
        <p:txBody>
          <a:bodyPr/>
          <a:lstStyle/>
          <a:p>
            <a:r>
              <a:rPr lang="en-US" altLang="ko-KR" dirty="0"/>
              <a:t>Modeling Workflow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6568" y="484632"/>
            <a:ext cx="338328" cy="246888"/>
          </a:xfrm>
        </p:spPr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484632"/>
            <a:ext cx="658368" cy="246888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207" y="2212848"/>
            <a:ext cx="8686800" cy="566928"/>
          </a:xfrm>
        </p:spPr>
        <p:txBody>
          <a:bodyPr/>
          <a:lstStyle/>
          <a:p>
            <a:r>
              <a:rPr lang="en-US" altLang="ko-KR" dirty="0"/>
              <a:t>Raw sensors in, a recommended frequency out — with the model chosen the same way every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017520"/>
            <a:ext cx="1479499" cy="120700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3182112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529A0"/>
                </a:solidFill>
                <a:latin typeface="Arial"/>
              </a:rPr>
              <a:t>SCADA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3694176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1 reading per minute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2037283" y="3538728"/>
            <a:ext cx="182880" cy="182880"/>
          </a:xfrm>
          <a:prstGeom prst="triangle">
            <a:avLst/>
          </a:prstGeom>
          <a:solidFill>
            <a:srgbClr val="D2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75027" y="3017520"/>
            <a:ext cx="1479499" cy="120700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84755" y="3182112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529A0"/>
                </a:solidFill>
                <a:latin typeface="Arial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4755" y="3694176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rolling 15 / 60 / 240-min windows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3791102" y="3538728"/>
            <a:ext cx="182880" cy="182880"/>
          </a:xfrm>
          <a:prstGeom prst="triangle">
            <a:avLst/>
          </a:prstGeom>
          <a:solidFill>
            <a:srgbClr val="D2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28846" y="3017520"/>
            <a:ext cx="1479499" cy="1207008"/>
          </a:xfrm>
          <a:prstGeom prst="rect">
            <a:avLst/>
          </a:prstGeom>
          <a:solidFill>
            <a:srgbClr val="152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38574" y="3182112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Stage 1 — 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8574" y="3694176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D2D9EE"/>
                </a:solidFill>
                <a:latin typeface="Arial"/>
              </a:rPr>
              <a:t>trip within 30 minutes?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5544921" y="3538728"/>
            <a:ext cx="182880" cy="182880"/>
          </a:xfrm>
          <a:prstGeom prst="triangle">
            <a:avLst/>
          </a:prstGeom>
          <a:solidFill>
            <a:srgbClr val="D2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82665" y="3017520"/>
            <a:ext cx="1479499" cy="1207008"/>
          </a:xfrm>
          <a:prstGeom prst="rect">
            <a:avLst/>
          </a:prstGeom>
          <a:solidFill>
            <a:srgbClr val="152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2393" y="3182112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Stage 2 —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2393" y="3694176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D2D9EE"/>
                </a:solidFill>
                <a:latin typeface="Arial"/>
              </a:rPr>
              <a:t>which of the four modes?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7298740" y="3538728"/>
            <a:ext cx="182880" cy="182880"/>
          </a:xfrm>
          <a:prstGeom prst="triangle">
            <a:avLst/>
          </a:prstGeom>
          <a:solidFill>
            <a:srgbClr val="D2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36484" y="3017520"/>
            <a:ext cx="1479499" cy="1207008"/>
          </a:xfrm>
          <a:prstGeom prst="rect">
            <a:avLst/>
          </a:prstGeom>
          <a:solidFill>
            <a:srgbClr val="152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46212" y="3182112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Stage 3 — 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6212" y="3694176"/>
            <a:ext cx="12600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D2D9EE"/>
                </a:solidFill>
                <a:latin typeface="Arial"/>
              </a:rPr>
              <a:t>clipped to the safe 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" y="4462272"/>
            <a:ext cx="4110227" cy="93268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626864"/>
            <a:ext cx="378104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Unsupervised branch — runs in parallel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66E7A"/>
                </a:solidFill>
                <a:latin typeface="Arial"/>
              </a:rPr>
              <a:t>K-Means and DBSCAN map operating regimes. Deliberately never fed into the supervised models.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5755" y="4462272"/>
            <a:ext cx="4110227" cy="932688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70347" y="4626864"/>
            <a:ext cx="378104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Three models compared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66E7A"/>
                </a:solidFill>
                <a:latin typeface="Arial"/>
              </a:rPr>
              <a:t>Logistic Regression, Random Forest, XGBoost — each given its own tuned alarm policy before being measured.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5541264"/>
            <a:ext cx="8494776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5696712"/>
            <a:ext cx="80741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1529A0"/>
                </a:solidFill>
                <a:latin typeface="Arial"/>
              </a:rPr>
              <a:t>The model is selected on validation event cost — never on the held-out wells. 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Arial"/>
              </a:rPr>
              <a:t>A miss is weighted 200× a false alarm, because a missed shutdown costs far more than an interruption.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9888"/>
            <a:ext cx="8494776" cy="603504"/>
          </a:xfrm>
        </p:spPr>
        <p:txBody>
          <a:bodyPr/>
          <a:lstStyle/>
          <a:p>
            <a:r>
              <a:rPr lang="en-US" altLang="ko-KR" sz="2600" dirty="0"/>
              <a:t>48% of shutdowns caught, three hours ahead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448056"/>
            <a:ext cx="713232" cy="274320"/>
          </a:xfrm>
        </p:spPr>
        <p:txBody>
          <a:bodyPr/>
          <a:lstStyle/>
          <a:p>
            <a:r>
              <a:rPr lang="en-US" altLang="ko-KR" dirty="0"/>
              <a:t>2.3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7008" y="448056"/>
            <a:ext cx="6766560" cy="274320"/>
          </a:xfrm>
        </p:spPr>
        <p:txBody>
          <a:bodyPr/>
          <a:lstStyle/>
          <a:p>
            <a:r>
              <a:rPr lang="en-US" altLang="ko-KR" dirty="0"/>
              <a:t>Model Evaluation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6568" y="484632"/>
            <a:ext cx="338328" cy="246888"/>
          </a:xfrm>
        </p:spPr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484632"/>
            <a:ext cx="658368" cy="246888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521207" y="2066543"/>
            <a:ext cx="1917953" cy="1060704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SHUTDOWNS 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450591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529A0"/>
                </a:solidFill>
                <a:latin typeface="Arial"/>
              </a:rP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16936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33 of 69 — was 19%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3481" y="2066543"/>
            <a:ext cx="1917953" cy="1060704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9785" y="2194560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MEDIAN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9785" y="2450591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529A0"/>
                </a:solidFill>
                <a:latin typeface="Arial"/>
              </a:rPr>
              <a:t>180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9785" y="2916936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45% gave ≥30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5755" y="2066543"/>
            <a:ext cx="1917953" cy="1060704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52059" y="2194560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ALARMS / WELL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2059" y="2450591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529A0"/>
                </a:solidFill>
                <a:latin typeface="Arial"/>
              </a:rPr>
              <a:t>18.7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2059" y="2916936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under one per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8029" y="2066543"/>
            <a:ext cx="1917953" cy="1060704"/>
          </a:xfrm>
          <a:prstGeom prst="rect">
            <a:avLst/>
          </a:prstGeom>
          <a:solidFill>
            <a:srgbClr val="EEF1FA"/>
          </a:solidFill>
          <a:ln w="9525">
            <a:solidFill>
              <a:srgbClr val="D2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4333" y="2194560"/>
            <a:ext cx="162534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666E7A"/>
                </a:solidFill>
                <a:latin typeface="Arial"/>
              </a:rPr>
              <a:t>ROOT-CAUSE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4333" y="2450591"/>
            <a:ext cx="16253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1529A0"/>
                </a:solidFill>
                <a:latin typeface="Arial"/>
              </a:rPr>
              <a:t>68.6%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4333" y="2916936"/>
            <a:ext cx="162534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E7A"/>
                </a:solidFill>
                <a:latin typeface="Arial"/>
              </a:rPr>
              <a:t>vs 36% majority baseline</a:t>
            </a:r>
          </a:p>
        </p:txBody>
      </p:sp>
      <p:pic>
        <p:nvPicPr>
          <p:cNvPr id="23" name="Picture 22" descr="model_comparison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3218688"/>
            <a:ext cx="8494776" cy="26900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1207" y="5961888"/>
            <a:ext cx="84947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529A0"/>
                </a:solidFill>
                <a:latin typeface="Arial"/>
              </a:rPr>
              <a:t>Each model at its own tuned policy. </a:t>
            </a:r>
            <a:r>
              <a:rPr sz="1050" b="0">
                <a:solidFill>
                  <a:srgbClr val="1A1A1A"/>
                </a:solidFill>
                <a:latin typeface="Arial"/>
              </a:rPr>
              <a:t>XGBoost catches twice what logistic regression does, with fewer alarms.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9888"/>
            <a:ext cx="8494776" cy="603504"/>
          </a:xfrm>
        </p:spPr>
        <p:txBody>
          <a:bodyPr/>
          <a:lstStyle/>
          <a:p>
            <a:r>
              <a:rPr lang="en-US" altLang="ko-KR" sz="2600" dirty="0"/>
              <a:t>From a sensor feed to an actionable number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448056"/>
            <a:ext cx="713232" cy="274320"/>
          </a:xfrm>
        </p:spPr>
        <p:txBody>
          <a:bodyPr/>
          <a:lstStyle/>
          <a:p>
            <a:r>
              <a:rPr lang="en-US" altLang="ko-KR" dirty="0"/>
              <a:t>3.1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7008" y="448056"/>
            <a:ext cx="6766560" cy="274320"/>
          </a:xfrm>
        </p:spPr>
        <p:txBody>
          <a:bodyPr/>
          <a:lstStyle/>
          <a:p>
            <a:r>
              <a:rPr lang="en-US" altLang="ko-KR" dirty="0"/>
              <a:t>ESP Failure Watch Platform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6568" y="484632"/>
            <a:ext cx="338328" cy="246888"/>
          </a:xfrm>
        </p:spPr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484632"/>
            <a:ext cx="658368" cy="246888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21207" y="2084831"/>
            <a:ext cx="19179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A risk score per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331720"/>
            <a:ext cx="1917953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E7A"/>
                </a:solidFill>
                <a:latin typeface="Arial"/>
              </a:rPr>
              <a:t>updated each minute, on that well's own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3481" y="2084831"/>
            <a:ext cx="19179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The cause, named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3481" y="2331720"/>
            <a:ext cx="1917953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E7A"/>
                </a:solidFill>
                <a:latin typeface="Arial"/>
              </a:rPr>
              <a:t>gas lock and high discharge at 1.00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5755" y="2084831"/>
            <a:ext cx="19179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A frequency to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5755" y="2331720"/>
            <a:ext cx="1917953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E7A"/>
                </a:solidFill>
                <a:latin typeface="Arial"/>
              </a:rPr>
              <a:t>clipped to that well's rated equipment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8029" y="2084831"/>
            <a:ext cx="19179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529A0"/>
                </a:solidFill>
                <a:latin typeface="Arial"/>
              </a:rPr>
              <a:t>When not to use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8029" y="2331720"/>
            <a:ext cx="1917953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E7A"/>
                </a:solidFill>
                <a:latin typeface="Arial"/>
              </a:rPr>
              <a:t>slow a well only if a trip costs &gt; ~35 hours down</a:t>
            </a:r>
          </a:p>
        </p:txBody>
      </p:sp>
      <p:pic>
        <p:nvPicPr>
          <p:cNvPr id="15" name="Picture 14" descr="das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2889504"/>
            <a:ext cx="8494776" cy="31321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7" y="6071616"/>
            <a:ext cx="8494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E7A"/>
                </a:solidFill>
                <a:latin typeface="Arial"/>
              </a:rPr>
              <a:t>Worth about 99 hours of avoidable downtime across three wells in six months.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389888"/>
            <a:ext cx="8494776" cy="603504"/>
          </a:xfrm>
        </p:spPr>
        <p:txBody>
          <a:bodyPr/>
          <a:lstStyle/>
          <a:p>
            <a:r>
              <a:rPr lang="en-US" altLang="ko-KR" sz="2600" dirty="0"/>
              <a:t>Adding a new well takes one line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448056"/>
            <a:ext cx="713232" cy="274320"/>
          </a:xfrm>
        </p:spPr>
        <p:txBody>
          <a:bodyPr/>
          <a:lstStyle/>
          <a:p>
            <a:r>
              <a:rPr lang="en-US" altLang="ko-KR" dirty="0"/>
              <a:t>3.2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07008" y="448056"/>
            <a:ext cx="6766560" cy="274320"/>
          </a:xfrm>
        </p:spPr>
        <p:txBody>
          <a:bodyPr/>
          <a:lstStyle/>
          <a:p>
            <a:r>
              <a:rPr lang="en-US" altLang="ko-KR" dirty="0"/>
              <a:t>Live Demo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16568" y="484632"/>
            <a:ext cx="338328" cy="246888"/>
          </a:xfrm>
        </p:spPr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484632"/>
            <a:ext cx="658368" cy="246888"/>
          </a:xfrm>
        </p:spPr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pic>
        <p:nvPicPr>
          <p:cNvPr id="23" name="Demo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4087" y="1993392"/>
            <a:ext cx="7714650" cy="427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20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  <comment xmlns="5192ee0d-e524-4888-b581-1910cadcd21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71F96850C604FA9DD4A6FAA1D7E94" ma:contentTypeVersion="13" ma:contentTypeDescription="Create a new document." ma:contentTypeScope="" ma:versionID="94bb0226509be2894c83196f814f5ace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eb19b1b986ba2b37eb36a9dd005ffe1c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BillingMetadata" minOccurs="0"/>
                <xsd:element ref="ns2:MediaServiceOCR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mment" ma:index="20" nillable="true" ma:displayName="comment" ma:format="Dropdown" ma:internalName="comm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f2df0d5-6bdf-4400-9605-4c2d2eede7e4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B4D1BC-3672-47C7-8E98-3D3B83A92BF9}">
  <ds:schemaRefs>
    <ds:schemaRef ds:uri="http://schemas.microsoft.com/office/2006/metadata/properties"/>
    <ds:schemaRef ds:uri="http://schemas.microsoft.com/office/infopath/2007/PartnerControls"/>
    <ds:schemaRef ds:uri="525df02f-3aee-47af-b2f3-c2ea8bcae9a6"/>
    <ds:schemaRef ds:uri="5192ee0d-e524-4888-b581-1910cadcd210"/>
  </ds:schemaRefs>
</ds:datastoreItem>
</file>

<file path=customXml/itemProps2.xml><?xml version="1.0" encoding="utf-8"?>
<ds:datastoreItem xmlns:ds="http://schemas.openxmlformats.org/officeDocument/2006/customXml" ds:itemID="{F7A1BB24-B868-43EF-95F7-238FE3A157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0357D8-C495-42E3-A0C0-6723B236F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92ee0d-e524-4888-b581-1910cadcd210"/>
    <ds:schemaRef ds:uri="525df02f-3aee-47af-b2f3-c2ea8bcae9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4279</TotalTime>
  <Words>1236</Words>
  <Application>Microsoft Office PowerPoint</Application>
  <PresentationFormat>Custom</PresentationFormat>
  <Paragraphs>136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Calibri</vt:lpstr>
      <vt:lpstr>SamsungOne 700</vt:lpstr>
      <vt:lpstr>Samsung Sharp Sans Bold</vt:lpstr>
      <vt:lpstr>Samsung Sharp Sans Medium</vt:lpstr>
      <vt:lpstr>맑은 고딕</vt:lpstr>
      <vt:lpstr>Arial</vt:lpstr>
      <vt:lpstr>SamsungOne 400</vt:lpstr>
      <vt:lpstr>Samsung Sharp Sans</vt:lpstr>
      <vt:lpstr>SamsungOne 400C</vt:lpstr>
      <vt:lpstr>Office Theme</vt:lpstr>
      <vt:lpstr>ESP Failure Prediction &amp; Optimal Frequency</vt:lpstr>
      <vt:lpstr>PowerPoint Presentation</vt:lpstr>
      <vt:lpstr>Most ESP failures build up over hours</vt:lpstr>
      <vt:lpstr>Warn early enough to act, and say what to do</vt:lpstr>
      <vt:lpstr>16 wells, 4.19M minutes, three locked away</vt:lpstr>
      <vt:lpstr>Two supervised stages, one parallel check</vt:lpstr>
      <vt:lpstr>48% of shutdowns caught, three hours ahead</vt:lpstr>
      <vt:lpstr>From a sensor feed to an actionable number</vt:lpstr>
      <vt:lpstr>Adding a new well takes one line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 Failure Prediction &amp; Optimal Frequency</dc:title>
  <dc:creator>Group-3 Data Drillers</dc:creator>
  <cp:lastModifiedBy>Anas Eddanfor</cp:lastModifiedBy>
  <cp:revision>2082</cp:revision>
  <dcterms:created xsi:type="dcterms:W3CDTF">2019-07-06T14:12:49Z</dcterms:created>
  <dcterms:modified xsi:type="dcterms:W3CDTF">2026-09-29T17:56:22Z</dcterms:modified>
</cp:coreProperties>
</file>